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1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2" r:id="rId12"/>
    <p:sldId id="265" r:id="rId13"/>
    <p:sldId id="268" r:id="rId14"/>
    <p:sldId id="266" r:id="rId15"/>
    <p:sldId id="267" r:id="rId16"/>
    <p:sldId id="270" r:id="rId17"/>
    <p:sldId id="269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1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3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64F6E-F17D-49CE-85C9-D5B5A8E4A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E9F19-9DF5-456C-946D-19954FB32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039C9-03F7-489E-B733-F24347248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BA57B-C0FC-4AB7-86A5-32BF0C3BF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BB9A3-EB39-485F-BE2A-C18E31B9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97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C4A9-4D5D-4B1D-A289-548C11864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B7202-759B-4896-AE6A-42536EF80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75613-CAF9-4696-8071-66559DA4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90B10-C6D9-445F-86E2-346898A96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9416D-0E0F-4D60-852C-086724DC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14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1D61-8709-44C0-8A59-15D11926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449F0-D02D-4185-96AC-B1E8631AB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E265-9566-4D15-93BE-93CB9DD4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BE663-9464-4E30-ABD1-7A544A47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5C7EE-EEDA-4ABF-84DA-8050A497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68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7095-C507-4F9F-BE98-2801B28D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0E03C-A59B-4FB4-92CA-EE0CD0C91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914CC-1346-4963-B0C8-3F95217CD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F5AA3-0BEA-4DA9-B23D-A847794B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1C1D4-749B-4CE2-ABBB-C165F0DA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2C871-5731-45B8-A1C7-3A9F5F87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84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2E54-F35C-47C9-AEDC-743AE45F5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B8BC7-F16E-444F-B22E-D7F362EE4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C1A75-0FB6-4E39-92B0-7BA0BC468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CD543-5D71-4C6D-BBFE-31A06BAC8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5A106-B363-4B1E-A586-97948B284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1E6157-44C2-4EE3-81C6-B73FFC922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E03B7-FD6E-471D-BA7D-FEA2C5807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204FD-9573-4559-B15E-FB8A40F4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94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9C40-2CCF-424F-A6E6-89ECE9ACD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6DEE9-6392-452B-B907-DD2D02BA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6046CE-7A12-44BD-9CBF-82666782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0690B-6887-47DA-B5FA-9420A27D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66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33433-2A37-4657-82AA-8DE494CC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3546C-524B-4865-89CB-660E5D6BB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09BC5-12FB-40BA-B4F4-5BEAB501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636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FF77-1AE2-44E3-85DF-4EB42B10F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F9271-062D-484D-8009-F533C367D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5D2DC-9074-440F-BACC-3E0CEF24B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657B4-4AF2-42F1-A72D-1985FF62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F59A4-1579-4AC0-9399-32698CC5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A3FF9-A07C-4265-A9E9-10DF06D1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14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5592-CFCB-41F6-B557-2C7413356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B7DD2-BB11-4119-897A-FEE9B8E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42878-FB1B-4B33-9E20-6F9CAC68F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0FA69-E863-4DCB-9F93-7BB4BA377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D0FC6-BBE6-44E0-81C4-E16C9D855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29076-FFA9-4825-9197-27DE51D4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058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0020-EB31-482D-86EB-A382322C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7DCE0-8BE4-44F7-AB55-9B1CCD1D1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3ADD-C984-4F49-B257-938A3AD26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E0DE-599D-4966-9250-823E601A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278E4-F061-464D-88D3-638DD008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78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C6C551-BB4D-4838-8351-10D935EEC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14981-B202-48EF-BC5C-5C05624CA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1E54A-2FC6-4F25-A2FF-3E186D96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EFB62-F3B3-4E55-B317-B02E5BFE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FF44F-851C-44B9-B646-1B73D9E5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09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232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482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869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034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593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812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6880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276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112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248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4495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433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97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7412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896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108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70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F48075-120A-447D-AEDE-EF2816D8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E194D-E55A-4619-9AB4-04D4F1930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065E2-278B-4B69-B760-EFEC8E08D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4CEE9-0145-43CA-944A-CFB92F468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F6F5E-AFB4-44D4-8D82-6810C7DCA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56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A4C9B-16B5-40B3-BAF2-D29AF797327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714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377086-9191-4543-983C-47026F56F2CE}"/>
              </a:ext>
            </a:extLst>
          </p:cNvPr>
          <p:cNvSpPr/>
          <p:nvPr/>
        </p:nvSpPr>
        <p:spPr>
          <a:xfrm>
            <a:off x="2011132" y="1959729"/>
            <a:ext cx="854625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7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Flight Delay Analysis</a:t>
            </a:r>
            <a:endParaRPr lang="en-IN" sz="72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15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0982FF-ECB7-42C2-8C8F-195E7E97E263}"/>
              </a:ext>
            </a:extLst>
          </p:cNvPr>
          <p:cNvSpPr txBox="1"/>
          <p:nvPr/>
        </p:nvSpPr>
        <p:spPr>
          <a:xfrm>
            <a:off x="374650" y="348526"/>
            <a:ext cx="11442700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800" b="1" dirty="0"/>
              <a:t>Key highlights:-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Total Flights Analysis: 5.82M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JetBlue Airways Cancellations: 4,276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Airline with highest/lowest number of Arrival delay:  Southwest Airline co./Virgin America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Airline with highest/lowest number of Departure delay: Southwest Airline co./Hawaiian Airline Inc.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No. of average arrival delayed flight: 2087K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No. of average arrival delayed flight: 2126K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Long-Distance Flight Reliability: 66.33%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4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0982FF-ECB7-42C2-8C8F-195E7E97E263}"/>
              </a:ext>
            </a:extLst>
          </p:cNvPr>
          <p:cNvSpPr txBox="1"/>
          <p:nvPr/>
        </p:nvSpPr>
        <p:spPr>
          <a:xfrm>
            <a:off x="374650" y="375309"/>
            <a:ext cx="11442700" cy="650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Introduction:-</a:t>
            </a:r>
          </a:p>
          <a:p>
            <a:endParaRPr lang="en-US" sz="24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/>
              <a:t>Flight delays are a major concern for both passengers and airlines, leading to customer dissatisfaction and financial</a:t>
            </a:r>
          </a:p>
          <a:p>
            <a:pPr>
              <a:lnSpc>
                <a:spcPct val="150000"/>
              </a:lnSpc>
            </a:pPr>
            <a:r>
              <a:rPr lang="en-US" dirty="0"/>
              <a:t> losses in Business. Airlines and airports need better insights into delay patterns to improve operational efficiency </a:t>
            </a:r>
          </a:p>
          <a:p>
            <a:pPr>
              <a:lnSpc>
                <a:spcPct val="150000"/>
              </a:lnSpc>
            </a:pPr>
            <a:r>
              <a:rPr lang="en-US" dirty="0"/>
              <a:t>and on-time performance.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 objective of this project is to identify and highlight factors that contribute to flight delays across different airlines</a:t>
            </a:r>
          </a:p>
          <a:p>
            <a:pPr>
              <a:lnSpc>
                <a:spcPct val="150000"/>
              </a:lnSpc>
            </a:pPr>
            <a:r>
              <a:rPr lang="en-US" dirty="0"/>
              <a:t>, states, and days of the week.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IN" dirty="0"/>
              <a:t>Objective:</a:t>
            </a:r>
            <a:r>
              <a:rPr lang="en-US" dirty="0"/>
              <a:t>-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Analysis of Weekday Vs Weekend total flights statistics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Identify which airlines, States, city, or time periods (day of week)  show the most delays.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Number of airlines with No delay with certain distance.</a:t>
            </a:r>
          </a:p>
          <a:p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14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823E804-C0DC-46AE-8485-D469E57BD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34650"/>
            <a:ext cx="98044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ata flow diagram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Excel (Data Cleaning and Preparation)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                                                      Power Bi (Data Modeling and KPI Dashboard)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         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                                                 Tableau (interactive visualization and story telling)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                        MySQL (Backend queries , Data Validation and Storage)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2FC86EC-FBB9-4177-AB00-BC4CBE09B204}"/>
              </a:ext>
            </a:extLst>
          </p:cNvPr>
          <p:cNvSpPr/>
          <p:nvPr/>
        </p:nvSpPr>
        <p:spPr>
          <a:xfrm>
            <a:off x="5511800" y="1814103"/>
            <a:ext cx="266700" cy="6985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2183393-60FA-4575-96A2-323ECB737C59}"/>
              </a:ext>
            </a:extLst>
          </p:cNvPr>
          <p:cNvSpPr/>
          <p:nvPr/>
        </p:nvSpPr>
        <p:spPr>
          <a:xfrm>
            <a:off x="5511800" y="2994496"/>
            <a:ext cx="266700" cy="6985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2C01C9B-8FDD-4DCA-83C1-0F8E6E669FC3}"/>
              </a:ext>
            </a:extLst>
          </p:cNvPr>
          <p:cNvSpPr/>
          <p:nvPr/>
        </p:nvSpPr>
        <p:spPr>
          <a:xfrm>
            <a:off x="5486400" y="4174889"/>
            <a:ext cx="266700" cy="6985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530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DC840-BB9D-42AF-B180-7CD963CC437D}"/>
              </a:ext>
            </a:extLst>
          </p:cNvPr>
          <p:cNvSpPr txBox="1"/>
          <p:nvPr/>
        </p:nvSpPr>
        <p:spPr>
          <a:xfrm>
            <a:off x="355599" y="188048"/>
            <a:ext cx="11173427" cy="6189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/>
              <a:t>Excel:-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Purpose:- Prepare and clean row data for Analysis and Making Dashboard.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Work Done:-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loaded in power query editor.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Checked Data Types , Promoted Headers, Replaced Null Values, Trimmed, Cleaned etc.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Created relationships with the help of Data </a:t>
            </a:r>
            <a:r>
              <a:rPr lang="en-IN" dirty="0" err="1"/>
              <a:t>Modeling</a:t>
            </a:r>
            <a:r>
              <a:rPr lang="en-IN" dirty="0"/>
              <a:t> Power Pivot       Manage        Diagram View</a:t>
            </a:r>
          </a:p>
          <a:p>
            <a:r>
              <a:rPr lang="en-IN" dirty="0"/>
              <a:t>        (1.Flights table – Origin Airport column &amp; Airport table – </a:t>
            </a:r>
            <a:r>
              <a:rPr lang="en-IN" dirty="0" err="1"/>
              <a:t>IATA_Code</a:t>
            </a:r>
            <a:r>
              <a:rPr lang="en-IN" dirty="0"/>
              <a:t> column,</a:t>
            </a:r>
          </a:p>
          <a:p>
            <a:r>
              <a:rPr lang="en-IN" dirty="0"/>
              <a:t>         2.  Flights table - Airline column &amp; Airline table – I   </a:t>
            </a:r>
            <a:r>
              <a:rPr lang="en-IN" dirty="0" err="1"/>
              <a:t>IATA_Code</a:t>
            </a:r>
            <a:r>
              <a:rPr lang="en-IN" dirty="0"/>
              <a:t> column)</a:t>
            </a:r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Created preliminary pivot charts to check delay patterns (by weekday, weekend, airline, state and city).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AAE4FE-9AFA-422E-A11E-38E7BF34083B}"/>
              </a:ext>
            </a:extLst>
          </p:cNvPr>
          <p:cNvCxnSpPr>
            <a:cxnSpLocks/>
          </p:cNvCxnSpPr>
          <p:nvPr/>
        </p:nvCxnSpPr>
        <p:spPr>
          <a:xfrm>
            <a:off x="6908800" y="2933700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519DDC-7B7B-4AFA-842A-2F2ADC4CF0F6}"/>
              </a:ext>
            </a:extLst>
          </p:cNvPr>
          <p:cNvCxnSpPr>
            <a:cxnSpLocks/>
          </p:cNvCxnSpPr>
          <p:nvPr/>
        </p:nvCxnSpPr>
        <p:spPr>
          <a:xfrm>
            <a:off x="8051800" y="2933700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07E6F2FF-5214-4ACD-B0C7-37C790E36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4" y="3657602"/>
            <a:ext cx="9662126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69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2FB8-F6C3-4B65-9F8A-DD9F984E273D}"/>
              </a:ext>
            </a:extLst>
          </p:cNvPr>
          <p:cNvSpPr txBox="1"/>
          <p:nvPr/>
        </p:nvSpPr>
        <p:spPr>
          <a:xfrm>
            <a:off x="266700" y="165100"/>
            <a:ext cx="11658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Dashboard Created:-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600" dirty="0"/>
              <a:t>Basic Excel dashboard showing  Average Delay, Cancelled Flights, weekend weekday flight analysis and delay patterns state wise, city wise, airline wise.</a:t>
            </a:r>
          </a:p>
          <a:p>
            <a:endParaRPr lang="en-IN" dirty="0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A15C4D38-1641-B99A-EF3F-2F06730FF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1447800"/>
            <a:ext cx="11794672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1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2FB8-F6C3-4B65-9F8A-DD9F984E273D}"/>
              </a:ext>
            </a:extLst>
          </p:cNvPr>
          <p:cNvSpPr txBox="1"/>
          <p:nvPr/>
        </p:nvSpPr>
        <p:spPr>
          <a:xfrm>
            <a:off x="533400" y="1089898"/>
            <a:ext cx="11658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/>
              <a:t>Challenges Faced:-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Handling Large Dataset (5M+ rows) – Excel Slowed Down significantly.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Some column requires reformatting.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Find and replacing empty values and cleaning large data was time consuming.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Finding correct common columns to create relations so in pivot chart we wont get blanks.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Limited visualization flexibility compare to BI tools.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2045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44ADB9-BDFA-4E23-852B-B19F2959AA6B}"/>
              </a:ext>
            </a:extLst>
          </p:cNvPr>
          <p:cNvSpPr txBox="1"/>
          <p:nvPr/>
        </p:nvSpPr>
        <p:spPr>
          <a:xfrm>
            <a:off x="285750" y="320040"/>
            <a:ext cx="1001268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Power BI </a:t>
            </a:r>
            <a:r>
              <a:rPr lang="en-US" dirty="0"/>
              <a:t>– KPI Analysis and Visualization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build KPIs and visualize overall airline performance metrics.</a:t>
            </a:r>
          </a:p>
          <a:p>
            <a:r>
              <a:rPr lang="en-IN" b="1" dirty="0"/>
              <a:t>Tasks Done: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Imported data into Power BI.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Cleaned data using power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relationship among Flight, Airline and Airport table in data modeling.</a:t>
            </a:r>
          </a:p>
          <a:p>
            <a:r>
              <a:rPr lang="en-IN" dirty="0"/>
              <a:t>         (1.Flights table – Origin Airport column &amp; Airport table – </a:t>
            </a:r>
            <a:r>
              <a:rPr lang="en-IN" dirty="0" err="1"/>
              <a:t>IATA_Code</a:t>
            </a:r>
            <a:r>
              <a:rPr lang="en-IN" dirty="0"/>
              <a:t> column,</a:t>
            </a:r>
          </a:p>
          <a:p>
            <a:r>
              <a:rPr lang="en-IN" dirty="0"/>
              <a:t>          2.  Flights table - Airline column &amp; Airline table – I   </a:t>
            </a:r>
            <a:r>
              <a:rPr lang="en-IN" dirty="0" err="1"/>
              <a:t>IATA_Code</a:t>
            </a:r>
            <a:r>
              <a:rPr lang="en-IN" dirty="0"/>
              <a:t> column)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Created new columns and Built measures using DAX such as arrival, departure status, Airline with no delays, weekend/weekday flight statistic.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FF1B5-9031-421C-AA7B-49651F920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38" y="3640301"/>
            <a:ext cx="10126504" cy="289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80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D33ED4-7B59-425C-95C0-E73414CAF688}"/>
              </a:ext>
            </a:extLst>
          </p:cNvPr>
          <p:cNvSpPr txBox="1"/>
          <p:nvPr/>
        </p:nvSpPr>
        <p:spPr>
          <a:xfrm>
            <a:off x="98855" y="159021"/>
            <a:ext cx="885052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Dashboard Created:-</a:t>
            </a:r>
          </a:p>
          <a:p>
            <a:r>
              <a:rPr lang="en-US" dirty="0"/>
              <a:t>Interactive Power BI dashboard for operational insights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2B356F-72D6-92BF-51FE-B21BD85CB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4" y="957943"/>
            <a:ext cx="11994291" cy="588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0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EFF488-C1AF-4888-A37C-22113BC4B8AA}"/>
              </a:ext>
            </a:extLst>
          </p:cNvPr>
          <p:cNvSpPr txBox="1"/>
          <p:nvPr/>
        </p:nvSpPr>
        <p:spPr>
          <a:xfrm>
            <a:off x="544366" y="508620"/>
            <a:ext cx="9700054" cy="535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8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Developed visuals: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dirty="0"/>
              <a:t>Weekday Vs Weekend total flights statistics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dirty="0"/>
              <a:t>Total number of cancelled flights for JetBlue Airways on first date of every month.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dirty="0"/>
              <a:t>Week wise, State wise and City wise statistics of delay of flights with airline details.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dirty="0"/>
              <a:t>Number of airlines with No departure/arrival delay with distance covered between 2500 and 3000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dirty="0"/>
              <a:t>Given slicers for city, states, Month, Days of week to filter out the exact result we want.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1800" b="1" dirty="0"/>
              <a:t>Challenges Faced: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Difficulty writing DAX formulas initially (especially with relationships).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model performance slowed down due to large datasets.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Filtering out Null and negative values to perform correct calculations.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Filtering visuals to exclude irrelevant or incomplete records required attention.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00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44E011-4797-468A-BD7D-8E6AB7A6CFA2}"/>
              </a:ext>
            </a:extLst>
          </p:cNvPr>
          <p:cNvSpPr txBox="1"/>
          <p:nvPr/>
        </p:nvSpPr>
        <p:spPr>
          <a:xfrm>
            <a:off x="310009" y="617475"/>
            <a:ext cx="11071654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Tableau</a:t>
            </a:r>
            <a:r>
              <a:rPr lang="en-US" dirty="0"/>
              <a:t> – Storytelling and Interactive Insights.</a:t>
            </a:r>
          </a:p>
          <a:p>
            <a:endParaRPr lang="en-US" dirty="0"/>
          </a:p>
          <a:p>
            <a:endParaRPr lang="en-US" sz="2000" b="1" dirty="0"/>
          </a:p>
          <a:p>
            <a:r>
              <a:rPr lang="en-US" sz="2000" b="1" dirty="0"/>
              <a:t>Purpose: </a:t>
            </a:r>
          </a:p>
          <a:p>
            <a:r>
              <a:rPr lang="en-US" dirty="0"/>
              <a:t>To create advanced, visually rich dashboard and tell a clear data story.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Task Done: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loaded in Data Source Pane and created relationship in logical layer.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Designed visuals such as:</a:t>
            </a:r>
          </a:p>
          <a:p>
            <a:pPr>
              <a:lnSpc>
                <a:spcPct val="150000"/>
              </a:lnSpc>
            </a:pPr>
            <a:r>
              <a:rPr lang="en-IN" dirty="0"/>
              <a:t>      Week wise average delay (Line Chart)</a:t>
            </a:r>
          </a:p>
          <a:p>
            <a:pPr>
              <a:lnSpc>
                <a:spcPct val="150000"/>
              </a:lnSpc>
            </a:pPr>
            <a:r>
              <a:rPr lang="en-IN" dirty="0"/>
              <a:t>      State Wise no. of Airports (Map Chart)</a:t>
            </a:r>
          </a:p>
          <a:p>
            <a:pPr>
              <a:lnSpc>
                <a:spcPct val="150000"/>
              </a:lnSpc>
            </a:pPr>
            <a:r>
              <a:rPr lang="en-IN" dirty="0"/>
              <a:t>      Airline wise flight details (lollypop Chart)</a:t>
            </a:r>
          </a:p>
          <a:p>
            <a:pPr>
              <a:lnSpc>
                <a:spcPct val="150000"/>
              </a:lnSpc>
            </a:pPr>
            <a:r>
              <a:rPr lang="en-IN" dirty="0"/>
              <a:t>      Weekday vs Weekend delay comparison (Bar Chart)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Used Calculated fields and filters  to remove null/negative delay values.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583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730053-5D1B-43C2-A1DA-655EB604E9E4}"/>
              </a:ext>
            </a:extLst>
          </p:cNvPr>
          <p:cNvSpPr txBox="1"/>
          <p:nvPr/>
        </p:nvSpPr>
        <p:spPr>
          <a:xfrm>
            <a:off x="345989" y="345989"/>
            <a:ext cx="105403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Combined Visuals into a final story dashboard.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Created relationship among Flight, Airline and Airport table in data modeling.</a:t>
            </a:r>
          </a:p>
          <a:p>
            <a:r>
              <a:rPr lang="en-IN" sz="1800" dirty="0"/>
              <a:t>         (1.Flights table – Origin Airport column &amp; Airport table – </a:t>
            </a:r>
            <a:r>
              <a:rPr lang="en-IN" sz="1800" dirty="0" err="1"/>
              <a:t>IATA_Code</a:t>
            </a:r>
            <a:r>
              <a:rPr lang="en-IN" sz="1800" dirty="0"/>
              <a:t> column,</a:t>
            </a:r>
          </a:p>
          <a:p>
            <a:r>
              <a:rPr lang="en-IN" sz="1800" dirty="0"/>
              <a:t>          2.  Flights table - Airline column &amp; Airline table – I   </a:t>
            </a:r>
            <a:r>
              <a:rPr lang="en-IN" sz="1800" dirty="0" err="1"/>
              <a:t>IATA_Code</a:t>
            </a:r>
            <a:r>
              <a:rPr lang="en-IN" sz="1800" dirty="0"/>
              <a:t> column)</a:t>
            </a: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76F349-7EC3-4F57-84BF-3D9B3A534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26680"/>
            <a:ext cx="10769733" cy="447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11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44E011-4797-468A-BD7D-8E6AB7A6CFA2}"/>
              </a:ext>
            </a:extLst>
          </p:cNvPr>
          <p:cNvSpPr txBox="1"/>
          <p:nvPr/>
        </p:nvSpPr>
        <p:spPr>
          <a:xfrm>
            <a:off x="296562" y="320186"/>
            <a:ext cx="1107165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Dashboard Created:-</a:t>
            </a:r>
          </a:p>
          <a:p>
            <a:pPr>
              <a:lnSpc>
                <a:spcPct val="150000"/>
              </a:lnSpc>
            </a:pPr>
            <a:r>
              <a:rPr lang="en-US" dirty="0"/>
              <a:t>Dynamic and visually appealing Tableau dashboard summarizing overall findings.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 descr="A screenshot of a flight delay analysis&#10;&#10;AI-generated content may be incorrect.">
            <a:extLst>
              <a:ext uri="{FF2B5EF4-FFF2-40B4-BE49-F238E27FC236}">
                <a16:creationId xmlns:a16="http://schemas.microsoft.com/office/drawing/2014/main" id="{3DE44D09-75BE-69BF-40A5-BCD89E850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29" y="1566681"/>
            <a:ext cx="11832772" cy="510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83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478026-B964-485F-92F5-05818DD71B59}"/>
              </a:ext>
            </a:extLst>
          </p:cNvPr>
          <p:cNvSpPr txBox="1"/>
          <p:nvPr/>
        </p:nvSpPr>
        <p:spPr>
          <a:xfrm>
            <a:off x="471737" y="705062"/>
            <a:ext cx="122084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Challenges Faced:</a:t>
            </a:r>
            <a:endParaRPr lang="en-US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Tableau initially hid axis options — difficult to edit labels or scales.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Adjusting x/y-axis positions and enabling hidden axes took troubleshooting.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Performance slowed when loading large datasets with multiple filters.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Combining multiple sheets into one cohesive Dashboard required fine layout adjustment.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Ignoring null negative values in calculations.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Making lollypop and donut chart which was not readily available.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469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1707668-5548-46F2-B55F-9BA87EF5B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964" y="479734"/>
            <a:ext cx="11802036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MySQL</a:t>
            </a:r>
            <a:r>
              <a:rPr lang="en-US" dirty="0"/>
              <a:t> – Backend Queries and Data Validation.</a:t>
            </a:r>
          </a:p>
          <a:p>
            <a:r>
              <a:rPr lang="en-US" dirty="0"/>
              <a:t> 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store, query, and validate the analytical data efficiently.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Tasks Done: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Loaded datasets into MySQL using Load data local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 SQL queries to validate and calculate KPIs: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IN" dirty="0"/>
              <a:t>Weekday Vs Weekend total flights statistics.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/>
              <a:t>Total number of cancelled flights for JetBlue Airways on first date of every month.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/>
              <a:t>Week wise, State wise and City wise statistics of delay of flights with airline details.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/>
              <a:t>Number of airlines with No departure/arrival delay with distance covered between 2500 and 3000.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10 </a:t>
            </a:r>
            <a:r>
              <a:rPr lang="en-US" altLang="en-US" dirty="0"/>
              <a:t>Cities with no delay State wise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Verified Power BI and Tableau outputs using SQL query results.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Reliable backend data validation and computation layer.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726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83C18A46-DFAA-4C6A-98AC-46E344287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776" y="694647"/>
            <a:ext cx="10384894" cy="4446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Challenges Faced: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Encountered Error 2068 while loading CSV (LOCAL INFILE restriction).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AIR_TIME column gave “Out of range” warnings due to incorrect data type (needed to convert to INT).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Managing such a large dataset required careful indexing and type selection.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Troubleshooting data import paths (especially Windows file directory issues).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creating table we have missed taxi out column due to that we were getting 0 for </a:t>
            </a:r>
            <a:r>
              <a:rPr lang="en-US" altLang="en-US" dirty="0"/>
              <a:t>4</a:t>
            </a:r>
            <a:r>
              <a:rPr lang="en-US" altLang="en-US" baseline="30000" dirty="0"/>
              <a:t>th</a:t>
            </a:r>
            <a:r>
              <a:rPr lang="en-US" altLang="en-US" dirty="0"/>
              <a:t> </a:t>
            </a:r>
            <a:r>
              <a:rPr lang="en-US" altLang="en-US" dirty="0" err="1"/>
              <a:t>kpi</a:t>
            </a:r>
            <a:endParaRPr lang="en-US" altLang="en-US" dirty="0"/>
          </a:p>
          <a:p>
            <a:r>
              <a:rPr lang="en-US" altLang="en-US" dirty="0"/>
              <a:t>  (which is </a:t>
            </a:r>
            <a:r>
              <a:rPr lang="en-IN" dirty="0"/>
              <a:t>Number of airlines with No departure/arrival delay with distance covered between 2500 and 3000)</a:t>
            </a:r>
          </a:p>
          <a:p>
            <a:pPr marL="342900" indent="-342900">
              <a:buAutoNum type="arabicParenR"/>
            </a:pP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1829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83C18A46-DFAA-4C6A-98AC-46E344287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4494" y="1799647"/>
            <a:ext cx="4599529" cy="2209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1172092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705</TotalTime>
  <Words>1143</Words>
  <Application>Microsoft Office PowerPoint</Application>
  <PresentationFormat>Widescreen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Tw Cen MT</vt:lpstr>
      <vt:lpstr>Office Theme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aanchal ameta</dc:creator>
  <cp:lastModifiedBy>neeraj logan</cp:lastModifiedBy>
  <cp:revision>41</cp:revision>
  <dcterms:created xsi:type="dcterms:W3CDTF">2025-10-24T06:11:53Z</dcterms:created>
  <dcterms:modified xsi:type="dcterms:W3CDTF">2025-12-09T10:48:20Z</dcterms:modified>
</cp:coreProperties>
</file>